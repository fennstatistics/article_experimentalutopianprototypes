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Fenn" initials="JF" lastIdx="10" clrIdx="0">
    <p:extLst>
      <p:ext uri="{19B8F6BF-5375-455C-9EA6-DF929625EA0E}">
        <p15:presenceInfo xmlns:p15="http://schemas.microsoft.com/office/powerpoint/2012/main" userId="4969b09ad1230f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6197"/>
  </p:normalViewPr>
  <p:slideViewPr>
    <p:cSldViewPr snapToGrid="0">
      <p:cViewPr>
        <p:scale>
          <a:sx n="75" d="100"/>
          <a:sy n="75" d="100"/>
        </p:scale>
        <p:origin x="169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77C10B95-DE72-CA42-8E03-6337D8532236}" type="datetimeFigureOut">
              <a:rPr lang="de-DE" smtClean="0"/>
              <a:t>24.02.2026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5558975E-8E9A-1446-8739-76B5A1BBE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52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77F3-06D5-A17F-DFF7-9D31F3B4C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032BC-C8E5-4EAB-6CE4-7226D536C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121D4-81F8-B50B-4E2D-6ED7FBB6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9A8AC-3930-EEFB-BA90-C7AB0035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9C386-82FF-FEFB-1610-4D6D4FC3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7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369A-1E73-6E10-BDFB-EBAF11B1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4511C-DBD0-EF28-0CDC-1EEB5299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23CAE-713B-ED86-5C44-37B7EEDD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C877B-8F31-CFA8-648C-6CA91673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DBB75-0839-891A-EF95-E366C790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5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8ACF-EFA2-4441-9EFF-C56ED6A1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94E7F-5F5E-0282-51AE-F723155DF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71B00-AE0B-9E71-AD16-E11D954C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4AFE5-F4A6-9C5A-01C3-8C42EC47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542AA-485A-0E83-7EF0-7AA1C6E7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38BF-37C5-0C1A-4E59-D7BE3E72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EA15-B585-1322-AFAB-FF45BE57B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E2B91-B5DD-E50A-3D05-72ED9F65A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61A41-62DA-F438-6874-8AF9F52B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4B89F-A6D0-5EF4-AF28-FEAE1434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521F0-A268-B6F8-74DB-673797BD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7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CBA8-59FD-80CE-E8A4-4B56E1C7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5A447-0810-0760-664C-75262B060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9DE80-5545-B5BD-41A5-07E75085A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08EE4-9B2C-AC53-3B77-99BE07CEA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7C461-1CA8-0D08-2DFE-1B86B9A37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4A4B8-1810-197A-567E-41291363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F1487-E209-BE90-E88C-569B8B4A1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750DC-EC8B-CA0C-6D9A-BDC7520E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16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C378-46F1-FC37-91BB-714D17B0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5AABE-EE83-CA17-051E-AD31C49A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AD5AC-67C1-7339-1EE0-DA2B88C8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847E7-8895-1158-C3C2-691E7E26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6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EDD2E7-708D-4592-10DB-BBA4DBCE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B0F5DC-F8CA-9245-F1F9-C3DDA153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7E32B-743A-7937-8631-A3286D71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8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7B69-8D3B-A68D-4A04-42CB3452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3D3A9-913E-3357-6444-BBFF8AA2C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D33BD-15B9-DC51-FC03-50EA3B6E7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78956-868E-480C-420E-00BB1D57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BAA4F-4B04-6C3D-5F77-DC695FA3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DA45B-70F7-142C-FEDC-BD027B6F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3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FB8E-ED1C-E801-7047-8E7AABC7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64F65-7DFA-0D34-DD5E-9F7568173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97D0E-3459-52A6-BE72-DB37AAB15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1DFAD-303C-4AD6-04D1-F63752AA1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3F3D5-8786-B6CB-5822-3B93AFDC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5E4BF-7324-4E09-C85B-96CC85DB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4FFA-C1E1-3656-07B9-732DACD6A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17318-8E57-15E2-52D1-A7C24A0C5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732E0-54F9-8976-7108-4BE890C6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0F663-FC22-2298-48E8-71B014AE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AA12F-995F-D5D9-C743-53A5EEEB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8C481-0419-0211-48C6-60899B7D4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F117C-0A6D-93D9-17CC-A99E0CB8D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775FF-2C4D-24BF-602B-A564DEBD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8F461-2035-4801-7F5B-785202B3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94DA3-0714-FD77-3D79-71156145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9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E300E-4676-7229-AC8D-0AA46103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E08FB-4C5A-960B-0C6D-9CB2AE3E5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D079-95E0-2F6A-4A71-0D9220696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8342-571A-6841-AC1D-E620118845A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02D51-1612-3A46-D23B-37E3E55C9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B84D1-6F2E-454D-9A5A-663D19FE3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8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CB945E-BF48-3F74-1AE9-704E592AACF1}"/>
              </a:ext>
            </a:extLst>
          </p:cNvPr>
          <p:cNvCxnSpPr>
            <a:cxnSpLocks/>
          </p:cNvCxnSpPr>
          <p:nvPr/>
        </p:nvCxnSpPr>
        <p:spPr>
          <a:xfrm>
            <a:off x="1836210" y="1690053"/>
            <a:ext cx="1015139" cy="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aute 2">
            <a:extLst>
              <a:ext uri="{FF2B5EF4-FFF2-40B4-BE49-F238E27FC236}">
                <a16:creationId xmlns:a16="http://schemas.microsoft.com/office/drawing/2014/main" id="{4A9296B1-C39D-473E-8876-8746987742DD}"/>
              </a:ext>
            </a:extLst>
          </p:cNvPr>
          <p:cNvSpPr/>
          <p:nvPr/>
        </p:nvSpPr>
        <p:spPr>
          <a:xfrm>
            <a:off x="1408933" y="522744"/>
            <a:ext cx="2165198" cy="708725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Order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F38C5D5-C5B1-4AB1-B0AC-E92B17AC1EE2}"/>
              </a:ext>
            </a:extLst>
          </p:cNvPr>
          <p:cNvSpPr/>
          <p:nvPr/>
        </p:nvSpPr>
        <p:spPr>
          <a:xfrm>
            <a:off x="185578" y="1258794"/>
            <a:ext cx="1556979" cy="8540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and informed consent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81B72-191B-4109-A5DB-3F746D9B7B99}"/>
              </a:ext>
            </a:extLst>
          </p:cNvPr>
          <p:cNvSpPr/>
          <p:nvPr/>
        </p:nvSpPr>
        <p:spPr>
          <a:xfrm>
            <a:off x="4908700" y="1649530"/>
            <a:ext cx="1910390" cy="10785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 Commonwealth (Anarchic) Utopia</a:t>
            </a:r>
          </a:p>
        </p:txBody>
      </p: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E824A889-B463-430A-BB06-EC662BC95A1E}"/>
              </a:ext>
            </a:extLst>
          </p:cNvPr>
          <p:cNvCxnSpPr>
            <a:cxnSpLocks/>
            <a:stCxn id="25" idx="3"/>
            <a:endCxn id="50" idx="1"/>
          </p:cNvCxnSpPr>
          <p:nvPr/>
        </p:nvCxnSpPr>
        <p:spPr>
          <a:xfrm flipV="1">
            <a:off x="2170766" y="5375183"/>
            <a:ext cx="425936" cy="4601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19">
            <a:extLst>
              <a:ext uri="{FF2B5EF4-FFF2-40B4-BE49-F238E27FC236}">
                <a16:creationId xmlns:a16="http://schemas.microsoft.com/office/drawing/2014/main" id="{4C00471C-2FB3-46B0-A191-E0D90C4B685C}"/>
              </a:ext>
            </a:extLst>
          </p:cNvPr>
          <p:cNvSpPr/>
          <p:nvPr/>
        </p:nvSpPr>
        <p:spPr>
          <a:xfrm>
            <a:off x="2935774" y="1662337"/>
            <a:ext cx="1910390" cy="10785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AI-Centered Utopia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2FCA408F-5DA8-43DF-A239-3E6636DD7491}"/>
              </a:ext>
            </a:extLst>
          </p:cNvPr>
          <p:cNvSpPr/>
          <p:nvPr/>
        </p:nvSpPr>
        <p:spPr>
          <a:xfrm>
            <a:off x="3663386" y="547997"/>
            <a:ext cx="1910390" cy="10785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Futurist Utopia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BE970E9B-8DFD-4850-950C-54F76F8F09F2}"/>
              </a:ext>
            </a:extLst>
          </p:cNvPr>
          <p:cNvSpPr/>
          <p:nvPr/>
        </p:nvSpPr>
        <p:spPr>
          <a:xfrm>
            <a:off x="215909" y="4133292"/>
            <a:ext cx="1954857" cy="24929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Ordering Task</a:t>
            </a: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</a:t>
            </a:r>
          </a:p>
          <a:p>
            <a:r>
              <a:rPr lang="en-US" sz="1400" dirty="0"/>
              <a:t>Ask participants to rank the seven Utopian Prototypes from 1 (the society/world I’d least like to live in) to 7 (the society I’d most like to live in).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388BE6F-A9C1-4AA4-97E6-F97D05810D74}"/>
              </a:ext>
            </a:extLst>
          </p:cNvPr>
          <p:cNvSpPr txBox="1"/>
          <p:nvPr/>
        </p:nvSpPr>
        <p:spPr>
          <a:xfrm>
            <a:off x="1562101" y="96465"/>
            <a:ext cx="63274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1. Within-Part</a:t>
            </a:r>
            <a:endParaRPr lang="en-US" dirty="0">
              <a:effectLst/>
            </a:endParaRP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F3C9E4F8-6BDE-4DB7-AFB7-391CD3FB0DC5}"/>
              </a:ext>
            </a:extLst>
          </p:cNvPr>
          <p:cNvSpPr txBox="1"/>
          <p:nvPr/>
        </p:nvSpPr>
        <p:spPr>
          <a:xfrm>
            <a:off x="1562101" y="3500628"/>
            <a:ext cx="5518647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2. Between-Part</a:t>
            </a:r>
            <a:endParaRPr lang="en-US" dirty="0">
              <a:effectLst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29115CE5-B137-4D3C-8F0B-7A5947C63F83}"/>
              </a:ext>
            </a:extLst>
          </p:cNvPr>
          <p:cNvSpPr/>
          <p:nvPr/>
        </p:nvSpPr>
        <p:spPr>
          <a:xfrm>
            <a:off x="4081165" y="2784343"/>
            <a:ext cx="6308874" cy="6701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Evaluate 7 Utopian Prototypes</a:t>
            </a: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1400" dirty="0"/>
              <a:t>Participative Efficacy (#4 items)</a:t>
            </a:r>
          </a:p>
          <a:p>
            <a:pPr algn="ctr"/>
            <a:r>
              <a:rPr lang="en-US" sz="1400" dirty="0"/>
              <a:t>Attributes, like “desirable”, “innovative” (#8 items)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57F58A46-0195-45A6-8EF9-3C02F1C85F61}"/>
              </a:ext>
            </a:extLst>
          </p:cNvPr>
          <p:cNvSpPr/>
          <p:nvPr/>
        </p:nvSpPr>
        <p:spPr>
          <a:xfrm>
            <a:off x="8913535" y="1625840"/>
            <a:ext cx="1910390" cy="10785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Primitivist (Arcadian) Utopia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2AAF748-AA26-4670-BF6F-7CA76DA7D08E}"/>
              </a:ext>
            </a:extLst>
          </p:cNvPr>
          <p:cNvSpPr/>
          <p:nvPr/>
        </p:nvSpPr>
        <p:spPr>
          <a:xfrm>
            <a:off x="7662676" y="551952"/>
            <a:ext cx="1910390" cy="10785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Green Utopia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4C955572-4B58-40C4-9950-072FD6BB609D}"/>
              </a:ext>
            </a:extLst>
          </p:cNvPr>
          <p:cNvSpPr/>
          <p:nvPr/>
        </p:nvSpPr>
        <p:spPr>
          <a:xfrm>
            <a:off x="6934306" y="1657413"/>
            <a:ext cx="1910390" cy="10785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(Law-Based) Utopia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7E0F83AE-9B06-4F23-8841-7E96C1D888E6}"/>
              </a:ext>
            </a:extLst>
          </p:cNvPr>
          <p:cNvSpPr/>
          <p:nvPr/>
        </p:nvSpPr>
        <p:spPr>
          <a:xfrm>
            <a:off x="5663031" y="587140"/>
            <a:ext cx="1910390" cy="107854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Religious (Millennial) Utopia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98F115FC-7B7D-4429-8464-297386F25758}"/>
              </a:ext>
            </a:extLst>
          </p:cNvPr>
          <p:cNvSpPr/>
          <p:nvPr/>
        </p:nvSpPr>
        <p:spPr>
          <a:xfrm>
            <a:off x="2596702" y="4128691"/>
            <a:ext cx="1954857" cy="24929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Feedback Task (Audio)</a:t>
            </a: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</a:t>
            </a:r>
          </a:p>
          <a:p>
            <a:r>
              <a:rPr lang="en-US" sz="1400" dirty="0"/>
              <a:t>Participants provide qualitative audio feedback explaining their ranking.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F08B6A58-FCBA-4FBB-9ED4-2275EC388BED}"/>
              </a:ext>
            </a:extLst>
          </p:cNvPr>
          <p:cNvSpPr/>
          <p:nvPr/>
        </p:nvSpPr>
        <p:spPr>
          <a:xfrm>
            <a:off x="5102756" y="4123767"/>
            <a:ext cx="1954857" cy="24929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Feedback Task (Audio)</a:t>
            </a: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</a:t>
            </a:r>
          </a:p>
          <a:p>
            <a:r>
              <a:rPr lang="en-US" sz="1400" dirty="0"/>
              <a:t>Participants describe any additional type of utopia not represented in the current set, briefly but vividly, and explain which aspect is especially meaningful to them.</a:t>
            </a:r>
          </a:p>
        </p:txBody>
      </p: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440F4BB8-E5D6-4BED-B431-3E097FBD0C89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4551559" y="5370259"/>
            <a:ext cx="551197" cy="4924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66A89DDA-76F1-4DDE-A84E-5EC74385A4AD}"/>
              </a:ext>
            </a:extLst>
          </p:cNvPr>
          <p:cNvSpPr/>
          <p:nvPr/>
        </p:nvSpPr>
        <p:spPr>
          <a:xfrm>
            <a:off x="7618209" y="4128690"/>
            <a:ext cx="1954857" cy="24929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Scales:</a:t>
            </a:r>
            <a:endParaRPr lang="en-US" sz="1400" dirty="0">
              <a:latin typeface="Times New Roman" panose="02020603050405020304" pitchFamily="18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aaa</a:t>
            </a:r>
            <a:endParaRPr lang="en-US" sz="1400" dirty="0"/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6FA849D5-1E84-4629-BCBA-9C431D24E4B6}"/>
              </a:ext>
            </a:extLst>
          </p:cNvPr>
          <p:cNvSpPr/>
          <p:nvPr/>
        </p:nvSpPr>
        <p:spPr>
          <a:xfrm>
            <a:off x="9989604" y="4128691"/>
            <a:ext cx="1954857" cy="24929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Demographics:</a:t>
            </a:r>
            <a:endParaRPr lang="en-US" sz="1400" dirty="0">
              <a:latin typeface="Times New Roman" panose="02020603050405020304" pitchFamily="18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Religiosity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Left-Right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Current, Dream Job</a:t>
            </a:r>
          </a:p>
        </p:txBody>
      </p: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2BB11328-8D6A-4869-9B2D-DF3B0D6C4D74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7057613" y="5370259"/>
            <a:ext cx="560596" cy="4923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12">
            <a:extLst>
              <a:ext uri="{FF2B5EF4-FFF2-40B4-BE49-F238E27FC236}">
                <a16:creationId xmlns:a16="http://schemas.microsoft.com/office/drawing/2014/main" id="{107D5EE9-9F6A-4663-9871-8F2FA1B92232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9573066" y="5375182"/>
            <a:ext cx="416538" cy="1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11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Breitbild</PresentationFormat>
  <Paragraphs>29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Yu Gothic</vt:lpstr>
      <vt:lpstr>Arial</vt:lpstr>
      <vt:lpstr>Calibri</vt:lpstr>
      <vt:lpstr>Calibri Light</vt:lpstr>
      <vt:lpstr>Times New Roman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Helm</dc:creator>
  <cp:lastModifiedBy>Julius Fenn</cp:lastModifiedBy>
  <cp:revision>119</cp:revision>
  <cp:lastPrinted>2024-02-16T09:44:31Z</cp:lastPrinted>
  <dcterms:created xsi:type="dcterms:W3CDTF">2022-11-11T07:25:43Z</dcterms:created>
  <dcterms:modified xsi:type="dcterms:W3CDTF">2026-02-24T08:56:46Z</dcterms:modified>
</cp:coreProperties>
</file>